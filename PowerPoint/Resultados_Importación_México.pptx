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ES" dirty="0"/>
              <a:t>Producto</a:t>
            </a:r>
            <a:r>
              <a:rPr lang="es-ES" baseline="0" dirty="0"/>
              <a:t> por Categoría</a:t>
            </a:r>
            <a:endParaRPr lang="es-NI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NI"/>
        </a:p>
      </c:txPr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chemeClr val="accent1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Hoja1!$A$2:$A$8</c:f>
              <c:strCache>
                <c:ptCount val="7"/>
                <c:pt idx="0">
                  <c:v>Limpieza</c:v>
                </c:pt>
                <c:pt idx="1">
                  <c:v>Bebidas</c:v>
                </c:pt>
                <c:pt idx="2">
                  <c:v>Tecnologia</c:v>
                </c:pt>
                <c:pt idx="3">
                  <c:v>Oficina</c:v>
                </c:pt>
                <c:pt idx="4">
                  <c:v>Hogar</c:v>
                </c:pt>
                <c:pt idx="5">
                  <c:v>Accesorios </c:v>
                </c:pt>
                <c:pt idx="6">
                  <c:v>Alimentos</c:v>
                </c:pt>
              </c:strCache>
            </c:strRef>
          </c:cat>
          <c:val>
            <c:numRef>
              <c:f>Hoja1!$B$2:$B$8</c:f>
              <c:numCache>
                <c:formatCode>General</c:formatCode>
                <c:ptCount val="7"/>
              </c:numCache>
            </c:numRef>
          </c:val>
          <c:extLst>
            <c:ext xmlns:c16="http://schemas.microsoft.com/office/drawing/2014/chart" uri="{C3380CC4-5D6E-409C-BE32-E72D297353CC}">
              <c16:uniqueId val="{00000000-7C2A-405B-B5A5-F5406895455F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Serie 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Hoja1!$A$2:$A$8</c:f>
              <c:strCache>
                <c:ptCount val="7"/>
                <c:pt idx="0">
                  <c:v>Limpieza</c:v>
                </c:pt>
                <c:pt idx="1">
                  <c:v>Bebidas</c:v>
                </c:pt>
                <c:pt idx="2">
                  <c:v>Tecnologia</c:v>
                </c:pt>
                <c:pt idx="3">
                  <c:v>Oficina</c:v>
                </c:pt>
                <c:pt idx="4">
                  <c:v>Hogar</c:v>
                </c:pt>
                <c:pt idx="5">
                  <c:v>Accesorios </c:v>
                </c:pt>
                <c:pt idx="6">
                  <c:v>Alimentos</c:v>
                </c:pt>
              </c:strCache>
            </c:strRef>
          </c:cat>
          <c:val>
            <c:numRef>
              <c:f>Hoja1!$C$2:$C$8</c:f>
              <c:numCache>
                <c:formatCode>General</c:formatCode>
                <c:ptCount val="7"/>
              </c:numCache>
            </c:numRef>
          </c:val>
          <c:extLst>
            <c:ext xmlns:c16="http://schemas.microsoft.com/office/drawing/2014/chart" uri="{C3380CC4-5D6E-409C-BE32-E72D297353CC}">
              <c16:uniqueId val="{00000001-7C2A-405B-B5A5-F5406895455F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Serie 3</c:v>
                </c:pt>
              </c:strCache>
            </c:strRef>
          </c:tx>
          <c:spPr>
            <a:solidFill>
              <a:schemeClr val="accent1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Hoja1!$A$2:$A$8</c:f>
              <c:strCache>
                <c:ptCount val="7"/>
                <c:pt idx="0">
                  <c:v>Limpieza</c:v>
                </c:pt>
                <c:pt idx="1">
                  <c:v>Bebidas</c:v>
                </c:pt>
                <c:pt idx="2">
                  <c:v>Tecnologia</c:v>
                </c:pt>
                <c:pt idx="3">
                  <c:v>Oficina</c:v>
                </c:pt>
                <c:pt idx="4">
                  <c:v>Hogar</c:v>
                </c:pt>
                <c:pt idx="5">
                  <c:v>Accesorios </c:v>
                </c:pt>
                <c:pt idx="6">
                  <c:v>Alimentos</c:v>
                </c:pt>
              </c:strCache>
            </c:strRef>
          </c:cat>
          <c:val>
            <c:numRef>
              <c:f>Hoja1!$D$2:$D$8</c:f>
              <c:numCache>
                <c:formatCode>General</c:formatCode>
                <c:ptCount val="7"/>
                <c:pt idx="0">
                  <c:v>5</c:v>
                </c:pt>
                <c:pt idx="1">
                  <c:v>5</c:v>
                </c:pt>
                <c:pt idx="2">
                  <c:v>6</c:v>
                </c:pt>
                <c:pt idx="3">
                  <c:v>6</c:v>
                </c:pt>
                <c:pt idx="4">
                  <c:v>6</c:v>
                </c:pt>
                <c:pt idx="5">
                  <c:v>7</c:v>
                </c:pt>
                <c:pt idx="6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C2A-405B-B5A5-F540689545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597681776"/>
        <c:axId val="945710640"/>
      </c:barChart>
      <c:catAx>
        <c:axId val="59768177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NI"/>
          </a:p>
        </c:txPr>
        <c:crossAx val="945710640"/>
        <c:crosses val="autoZero"/>
        <c:auto val="1"/>
        <c:lblAlgn val="ctr"/>
        <c:lblOffset val="100"/>
        <c:noMultiLvlLbl val="0"/>
      </c:catAx>
      <c:valAx>
        <c:axId val="94571064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NI"/>
          </a:p>
        </c:txPr>
        <c:crossAx val="5976817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NI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s-NI"/>
        </a:p>
      </c:txPr>
    </c:title>
    <c:autoTitleDeleted val="0"/>
    <c:view3D>
      <c:rotX val="5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Distribución de Productos por Categoría</c:v>
                </c:pt>
              </c:strCache>
            </c:strRef>
          </c:tx>
          <c:dPt>
            <c:idx val="0"/>
            <c:bubble3D val="0"/>
            <c:spPr>
              <a:solidFill>
                <a:schemeClr val="accent6">
                  <a:tint val="48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1-C719-4E09-A7C9-77BAFFD90C2F}"/>
              </c:ext>
            </c:extLst>
          </c:dPt>
          <c:dPt>
            <c:idx val="1"/>
            <c:bubble3D val="0"/>
            <c:spPr>
              <a:solidFill>
                <a:schemeClr val="accent6">
                  <a:tint val="65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3-C719-4E09-A7C9-77BAFFD90C2F}"/>
              </c:ext>
            </c:extLst>
          </c:dPt>
          <c:dPt>
            <c:idx val="2"/>
            <c:bubble3D val="0"/>
            <c:spPr>
              <a:solidFill>
                <a:schemeClr val="accent6">
                  <a:tint val="83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5-C719-4E09-A7C9-77BAFFD90C2F}"/>
              </c:ext>
            </c:extLst>
          </c:dPt>
          <c:dPt>
            <c:idx val="3"/>
            <c:bubble3D val="0"/>
            <c:spPr>
              <a:solidFill>
                <a:schemeClr val="accent6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7-C719-4E09-A7C9-77BAFFD90C2F}"/>
              </c:ext>
            </c:extLst>
          </c:dPt>
          <c:dPt>
            <c:idx val="4"/>
            <c:bubble3D val="0"/>
            <c:spPr>
              <a:solidFill>
                <a:schemeClr val="accent6">
                  <a:shade val="82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9-C719-4E09-A7C9-77BAFFD90C2F}"/>
              </c:ext>
            </c:extLst>
          </c:dPt>
          <c:dPt>
            <c:idx val="5"/>
            <c:bubble3D val="0"/>
            <c:spPr>
              <a:solidFill>
                <a:schemeClr val="accent6">
                  <a:shade val="65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B-C719-4E09-A7C9-77BAFFD90C2F}"/>
              </c:ext>
            </c:extLst>
          </c:dPt>
          <c:dPt>
            <c:idx val="6"/>
            <c:bubble3D val="0"/>
            <c:spPr>
              <a:solidFill>
                <a:schemeClr val="accent6">
                  <a:shade val="47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D-C719-4E09-A7C9-77BAFFD90C2F}"/>
              </c:ext>
            </c:extLst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3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s-NI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Hoja1!$A$2:$A$8</c:f>
              <c:strCache>
                <c:ptCount val="7"/>
                <c:pt idx="0">
                  <c:v>Alimentos</c:v>
                </c:pt>
                <c:pt idx="1">
                  <c:v>Accesorios</c:v>
                </c:pt>
                <c:pt idx="2">
                  <c:v>Hogar</c:v>
                </c:pt>
                <c:pt idx="3">
                  <c:v>Oficina </c:v>
                </c:pt>
                <c:pt idx="4">
                  <c:v>Tecnología</c:v>
                </c:pt>
                <c:pt idx="5">
                  <c:v>Bebidas</c:v>
                </c:pt>
                <c:pt idx="6">
                  <c:v>Limpieza</c:v>
                </c:pt>
              </c:strCache>
            </c:strRef>
          </c:cat>
          <c:val>
            <c:numRef>
              <c:f>Hoja1!$B$2:$B$8</c:f>
              <c:numCache>
                <c:formatCode>General</c:formatCode>
                <c:ptCount val="7"/>
                <c:pt idx="0">
                  <c:v>15</c:v>
                </c:pt>
                <c:pt idx="1">
                  <c:v>7</c:v>
                </c:pt>
                <c:pt idx="2">
                  <c:v>6</c:v>
                </c:pt>
                <c:pt idx="3">
                  <c:v>6</c:v>
                </c:pt>
                <c:pt idx="4">
                  <c:v>6</c:v>
                </c:pt>
                <c:pt idx="5">
                  <c:v>5</c:v>
                </c:pt>
                <c:pt idx="6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A9D-43BC-99A2-B31B9C9735A5}"/>
            </c:ext>
          </c:extLst>
        </c:ser>
        <c:dLbls>
          <c:dLblPos val="ctr"/>
          <c:showLegendKey val="0"/>
          <c:showVal val="0"/>
          <c:showCatName val="1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s-NI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s-NI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2.xml><?xml version="1.0" encoding="utf-8"?>
<cs:colorStyle xmlns:cs="http://schemas.microsoft.com/office/drawing/2012/chartStyle" xmlns:a="http://schemas.openxmlformats.org/drawingml/2006/main" meth="withinLinearReversed" id="26">
  <a:schemeClr val="accent6"/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64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NI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NI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NI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NI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NI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NI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NI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NI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NI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NI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NI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NI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NI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NI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NI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NI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NI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NI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NI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NI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NI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NI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NI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NI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NI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NI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NI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NI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NI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NI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NI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NI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NI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NI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NI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NI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NI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NI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NI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NI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NI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NI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NI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NI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NI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NI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NI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NI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NI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NI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NI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NI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NI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NI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9/17/2026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NI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NI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NI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NI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NI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NI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NI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NI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NI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NI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NI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s-NI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NI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NI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NI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NI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NI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NI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NI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NI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NI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NI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NI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NI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NI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NI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NI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NI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NI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NI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NI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NI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NI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NI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NI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NI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NI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9/17/2026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7C0B0-BD06-58E7-D20F-C00AEB92EE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8057" y="1834039"/>
            <a:ext cx="5118735" cy="593026"/>
          </a:xfrm>
        </p:spPr>
        <p:txBody>
          <a:bodyPr>
            <a:noAutofit/>
          </a:bodyPr>
          <a:lstStyle/>
          <a:p>
            <a:r>
              <a:rPr lang="es-ES" sz="2800" b="1" dirty="0"/>
              <a:t>Operación de importación </a:t>
            </a:r>
            <a:endParaRPr lang="es-NI" sz="2800" b="1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3131136-F30E-0469-88DD-74CCC082E0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64792" y="4205542"/>
            <a:ext cx="1534288" cy="338554"/>
          </a:xfrm>
        </p:spPr>
        <p:txBody>
          <a:bodyPr>
            <a:normAutofit fontScale="92500" lnSpcReduction="20000"/>
          </a:bodyPr>
          <a:lstStyle/>
          <a:p>
            <a:r>
              <a:rPr lang="es-ES" sz="1600" dirty="0"/>
              <a:t>INTEGRANTES</a:t>
            </a:r>
          </a:p>
          <a:p>
            <a:endParaRPr lang="es-NI" sz="16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C5D6AE7-96B1-2BF9-F6F3-80034A1D48B8}"/>
              </a:ext>
            </a:extLst>
          </p:cNvPr>
          <p:cNvSpPr txBox="1"/>
          <p:nvPr/>
        </p:nvSpPr>
        <p:spPr>
          <a:xfrm>
            <a:off x="1218057" y="749808"/>
            <a:ext cx="25205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b="1" dirty="0"/>
              <a:t>NICATRADE INTERNARTIONAL</a:t>
            </a:r>
            <a:endParaRPr lang="es-NI" sz="1400" b="1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467AFEB-28C7-17A4-B025-C305451E1B11}"/>
              </a:ext>
            </a:extLst>
          </p:cNvPr>
          <p:cNvSpPr txBox="1"/>
          <p:nvPr/>
        </p:nvSpPr>
        <p:spPr>
          <a:xfrm>
            <a:off x="1692267" y="2845274"/>
            <a:ext cx="21749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México - Nicaragua</a:t>
            </a:r>
            <a:endParaRPr lang="es-NI" sz="160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49A2E1F-61EC-158D-4398-B4257B095B95}"/>
              </a:ext>
            </a:extLst>
          </p:cNvPr>
          <p:cNvSpPr txBox="1"/>
          <p:nvPr/>
        </p:nvSpPr>
        <p:spPr>
          <a:xfrm>
            <a:off x="1764792" y="4745736"/>
            <a:ext cx="27243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Ana Iris Mejia Urbina</a:t>
            </a:r>
          </a:p>
          <a:p>
            <a:r>
              <a:rPr lang="es-NI" dirty="0"/>
              <a:t>Andy José Préndiz Jiménez </a:t>
            </a:r>
            <a:endParaRPr lang="es-ES" dirty="0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608507B0-32CF-4E4E-3664-A11FCD3C5456}"/>
              </a:ext>
            </a:extLst>
          </p:cNvPr>
          <p:cNvSpPr/>
          <p:nvPr/>
        </p:nvSpPr>
        <p:spPr>
          <a:xfrm>
            <a:off x="1417320" y="4014216"/>
            <a:ext cx="3557016" cy="1947672"/>
          </a:xfrm>
          <a:prstGeom prst="roundRect">
            <a:avLst/>
          </a:prstGeom>
          <a:noFill/>
          <a:ln w="9525" cap="flat" cmpd="sng" algn="ctr">
            <a:solidFill>
              <a:schemeClr val="bg2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3817659-06E2-F923-E13E-9AE3E405687A}"/>
              </a:ext>
            </a:extLst>
          </p:cNvPr>
          <p:cNvSpPr txBox="1"/>
          <p:nvPr/>
        </p:nvSpPr>
        <p:spPr>
          <a:xfrm>
            <a:off x="8286242" y="5852160"/>
            <a:ext cx="30209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dirty="0"/>
              <a:t>Fecha: 17 de septiembre de 2026</a:t>
            </a:r>
            <a:endParaRPr lang="es-NI" sz="1600" dirty="0"/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FEAF5CE7-41B7-55A6-4005-AC4741A73FE8}"/>
              </a:ext>
            </a:extLst>
          </p:cNvPr>
          <p:cNvCxnSpPr/>
          <p:nvPr/>
        </p:nvCxnSpPr>
        <p:spPr>
          <a:xfrm>
            <a:off x="1417320" y="2427065"/>
            <a:ext cx="204825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749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5F7820-69C6-AE7F-C68E-262CBE6BC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1957" y="810542"/>
            <a:ext cx="4043235" cy="725650"/>
          </a:xfrm>
        </p:spPr>
        <p:txBody>
          <a:bodyPr>
            <a:normAutofit/>
          </a:bodyPr>
          <a:lstStyle/>
          <a:p>
            <a:r>
              <a:rPr lang="es-ES" sz="2800" dirty="0"/>
              <a:t>Empresa y operación </a:t>
            </a:r>
            <a:endParaRPr lang="es-NI" sz="2800" dirty="0"/>
          </a:p>
        </p:txBody>
      </p:sp>
      <p:graphicFrame>
        <p:nvGraphicFramePr>
          <p:cNvPr id="6" name="Marcador de contenido 5">
            <a:extLst>
              <a:ext uri="{FF2B5EF4-FFF2-40B4-BE49-F238E27FC236}">
                <a16:creationId xmlns:a16="http://schemas.microsoft.com/office/drawing/2014/main" id="{5481AA39-C8D3-579A-FAC7-1EC083E099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80270879"/>
              </p:ext>
            </p:extLst>
          </p:nvPr>
        </p:nvGraphicFramePr>
        <p:xfrm>
          <a:off x="6702552" y="2542096"/>
          <a:ext cx="4344859" cy="3541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562854D1-116C-018F-B5FB-8B0C2D1C21FD}"/>
              </a:ext>
            </a:extLst>
          </p:cNvPr>
          <p:cNvCxnSpPr>
            <a:cxnSpLocks/>
          </p:cNvCxnSpPr>
          <p:nvPr/>
        </p:nvCxnSpPr>
        <p:spPr>
          <a:xfrm>
            <a:off x="921957" y="1426464"/>
            <a:ext cx="212299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34BFC07-BE59-B655-4CCE-62AE24D63589}"/>
              </a:ext>
            </a:extLst>
          </p:cNvPr>
          <p:cNvSpPr txBox="1"/>
          <p:nvPr/>
        </p:nvSpPr>
        <p:spPr>
          <a:xfrm>
            <a:off x="921957" y="1947672"/>
            <a:ext cx="5148072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/>
              <a:t>Actividad de la empresa</a:t>
            </a:r>
          </a:p>
          <a:p>
            <a:endParaRPr lang="es-ES" sz="1600" dirty="0"/>
          </a:p>
          <a:p>
            <a:r>
              <a:rPr lang="es-ES" sz="1600" dirty="0"/>
              <a:t>Empresa nicaragüense dedicada a la importación y exportación de productos alimenticios y de consumo hacia mercados de Centroamérica.</a:t>
            </a:r>
          </a:p>
          <a:p>
            <a:endParaRPr lang="es-ES" sz="1600" dirty="0"/>
          </a:p>
          <a:p>
            <a:r>
              <a:rPr lang="es-ES" sz="1600" b="1" dirty="0"/>
              <a:t>Operación analizada</a:t>
            </a:r>
          </a:p>
          <a:p>
            <a:endParaRPr lang="es-ES" sz="1600" b="1" dirty="0"/>
          </a:p>
          <a:p>
            <a:r>
              <a:rPr lang="es-ES" sz="1600" dirty="0"/>
              <a:t>Importación de un lote de 50 productos de consumo (alimentos, bebidas, limpieza, hogar, oficina, tecnología y accesorios) para su comercialización en Nicaragua.</a:t>
            </a:r>
          </a:p>
          <a:p>
            <a:endParaRPr lang="es-ES" sz="1600" dirty="0"/>
          </a:p>
          <a:p>
            <a:r>
              <a:rPr lang="es-ES" sz="1600" b="1" dirty="0"/>
              <a:t>Origen y destino </a:t>
            </a:r>
          </a:p>
          <a:p>
            <a:endParaRPr lang="es-ES" sz="1600" b="1" dirty="0"/>
          </a:p>
          <a:p>
            <a:r>
              <a:rPr lang="es-ES" sz="1600" dirty="0"/>
              <a:t>47 de los 50 productos proceden de México; 3 productos complementarios llegan de Guatemala, Costa Rica y El Salvador. Destino final: Nicaragua.</a:t>
            </a:r>
          </a:p>
        </p:txBody>
      </p:sp>
    </p:spTree>
    <p:extLst>
      <p:ext uri="{BB962C8B-B14F-4D97-AF65-F5344CB8AC3E}">
        <p14:creationId xmlns:p14="http://schemas.microsoft.com/office/powerpoint/2010/main" val="2374357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EBA9107C-EE5D-52B9-2F74-D566DC124762}"/>
              </a:ext>
            </a:extLst>
          </p:cNvPr>
          <p:cNvSpPr/>
          <p:nvPr/>
        </p:nvSpPr>
        <p:spPr>
          <a:xfrm>
            <a:off x="3363165" y="4005072"/>
            <a:ext cx="2740278" cy="1636648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27F70DAD-74A7-232A-6E51-932E5CE5AD93}"/>
              </a:ext>
            </a:extLst>
          </p:cNvPr>
          <p:cNvSpPr/>
          <p:nvPr/>
        </p:nvSpPr>
        <p:spPr>
          <a:xfrm>
            <a:off x="438912" y="4005072"/>
            <a:ext cx="2560320" cy="1636648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A4716660-36B5-5680-5CA7-0D0B96DE31BB}"/>
              </a:ext>
            </a:extLst>
          </p:cNvPr>
          <p:cNvSpPr/>
          <p:nvPr/>
        </p:nvSpPr>
        <p:spPr>
          <a:xfrm>
            <a:off x="3311829" y="2030096"/>
            <a:ext cx="2791614" cy="1636648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84A5A713-DCAF-0C37-5927-09F044968B1A}"/>
              </a:ext>
            </a:extLst>
          </p:cNvPr>
          <p:cNvSpPr/>
          <p:nvPr/>
        </p:nvSpPr>
        <p:spPr>
          <a:xfrm>
            <a:off x="438912" y="2030032"/>
            <a:ext cx="2560320" cy="163671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BDEE540-1140-A368-B897-4CD81AFB0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4253" y="777240"/>
            <a:ext cx="4088955" cy="752920"/>
          </a:xfrm>
        </p:spPr>
        <p:txBody>
          <a:bodyPr>
            <a:normAutofit/>
          </a:bodyPr>
          <a:lstStyle/>
          <a:p>
            <a:r>
              <a:rPr lang="es-ES" sz="2800" dirty="0"/>
              <a:t>Resultado del análisis </a:t>
            </a:r>
            <a:endParaRPr lang="es-NI" sz="2800" dirty="0"/>
          </a:p>
        </p:txBody>
      </p:sp>
      <p:graphicFrame>
        <p:nvGraphicFramePr>
          <p:cNvPr id="6" name="Marcador de contenido 5">
            <a:extLst>
              <a:ext uri="{FF2B5EF4-FFF2-40B4-BE49-F238E27FC236}">
                <a16:creationId xmlns:a16="http://schemas.microsoft.com/office/drawing/2014/main" id="{04F782E9-361F-9D7E-3A52-A5FB6367EB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6581214"/>
              </p:ext>
            </p:extLst>
          </p:nvPr>
        </p:nvGraphicFramePr>
        <p:xfrm>
          <a:off x="6416040" y="2030032"/>
          <a:ext cx="5058092" cy="37672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2BC709B5-1EAE-D34C-F71E-0875AE22F48F}"/>
              </a:ext>
            </a:extLst>
          </p:cNvPr>
          <p:cNvCxnSpPr/>
          <p:nvPr/>
        </p:nvCxnSpPr>
        <p:spPr>
          <a:xfrm>
            <a:off x="1115568" y="1380744"/>
            <a:ext cx="200253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FFB85FAD-C52D-14D1-D058-6BDA293446FD}"/>
              </a:ext>
            </a:extLst>
          </p:cNvPr>
          <p:cNvSpPr txBox="1"/>
          <p:nvPr/>
        </p:nvSpPr>
        <p:spPr>
          <a:xfrm>
            <a:off x="539496" y="2159913"/>
            <a:ext cx="199285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b="1" dirty="0"/>
              <a:t>$40,359.00</a:t>
            </a:r>
          </a:p>
          <a:p>
            <a:endParaRPr lang="es-ES" dirty="0"/>
          </a:p>
          <a:p>
            <a:r>
              <a:rPr lang="es-ES" sz="1200" dirty="0"/>
              <a:t>Importe total de la operación</a:t>
            </a:r>
            <a:endParaRPr lang="es-NI" sz="1200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5FD6D32-E410-1351-33EA-6E7DD6AA9265}"/>
              </a:ext>
            </a:extLst>
          </p:cNvPr>
          <p:cNvSpPr txBox="1"/>
          <p:nvPr/>
        </p:nvSpPr>
        <p:spPr>
          <a:xfrm>
            <a:off x="3363165" y="2039240"/>
            <a:ext cx="2688941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/>
              <a:t>Mochilas</a:t>
            </a:r>
            <a:r>
              <a:rPr lang="es-ES" sz="2000" b="1" dirty="0"/>
              <a:t> </a:t>
            </a:r>
          </a:p>
          <a:p>
            <a:endParaRPr lang="es-ES" dirty="0"/>
          </a:p>
          <a:p>
            <a:r>
              <a:rPr lang="es-ES" sz="1200" dirty="0"/>
              <a:t>Producto con mayor importe ($1,912.00)</a:t>
            </a:r>
            <a:endParaRPr lang="es-NI" sz="1200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949EE99B-0DCF-FAAF-1299-4DC77C882ECA}"/>
              </a:ext>
            </a:extLst>
          </p:cNvPr>
          <p:cNvSpPr txBox="1"/>
          <p:nvPr/>
        </p:nvSpPr>
        <p:spPr>
          <a:xfrm>
            <a:off x="589788" y="4261104"/>
            <a:ext cx="2333524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b="1" dirty="0"/>
              <a:t>$7.74</a:t>
            </a:r>
          </a:p>
          <a:p>
            <a:endParaRPr lang="es-ES" dirty="0"/>
          </a:p>
          <a:p>
            <a:r>
              <a:rPr lang="es-ES" sz="1400" dirty="0"/>
              <a:t>Precio promedio por producto</a:t>
            </a:r>
            <a:endParaRPr lang="es-NI" sz="1400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CB704A9-EF82-B6B9-EA1C-AF39752A1686}"/>
              </a:ext>
            </a:extLst>
          </p:cNvPr>
          <p:cNvSpPr txBox="1"/>
          <p:nvPr/>
        </p:nvSpPr>
        <p:spPr>
          <a:xfrm>
            <a:off x="3493509" y="4230326"/>
            <a:ext cx="171502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b="1" dirty="0"/>
              <a:t>50</a:t>
            </a:r>
          </a:p>
          <a:p>
            <a:endParaRPr lang="es-ES" sz="2000" b="1" dirty="0"/>
          </a:p>
          <a:p>
            <a:r>
              <a:rPr lang="es-ES" sz="1400" dirty="0"/>
              <a:t>Productos registrados</a:t>
            </a:r>
            <a:endParaRPr lang="es-NI" sz="1400" dirty="0"/>
          </a:p>
        </p:txBody>
      </p:sp>
    </p:spTree>
    <p:extLst>
      <p:ext uri="{BB962C8B-B14F-4D97-AF65-F5344CB8AC3E}">
        <p14:creationId xmlns:p14="http://schemas.microsoft.com/office/powerpoint/2010/main" val="16077554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C847FA-8395-85D3-5281-CFC924065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828830"/>
            <a:ext cx="2863659" cy="689074"/>
          </a:xfrm>
        </p:spPr>
        <p:txBody>
          <a:bodyPr>
            <a:normAutofit/>
          </a:bodyPr>
          <a:lstStyle/>
          <a:p>
            <a:r>
              <a:rPr lang="es-ES" sz="2800" dirty="0"/>
              <a:t>Conclusiones</a:t>
            </a:r>
            <a:endParaRPr lang="es-NI" sz="28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C1FC1AE-0DED-87EC-EE11-8CD983A54A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810575"/>
            <a:ext cx="8359203" cy="1179513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s-ES" sz="1200" b="1" dirty="0"/>
              <a:t>RESULTADO</a:t>
            </a:r>
          </a:p>
          <a:p>
            <a:pPr marL="0" indent="0">
              <a:buNone/>
            </a:pPr>
            <a:r>
              <a:rPr lang="es-ES" sz="1600" dirty="0"/>
              <a:t>La operación asciende a $40,359.00, con un 91.5% del valor proveniente de México. Las mochilas son el producto de mayor peso económico, y 11 de los 50 productos se clasifican como ¨Importe Alto¨.</a:t>
            </a:r>
          </a:p>
          <a:p>
            <a:pPr marL="0" indent="0">
              <a:buNone/>
            </a:pPr>
            <a:endParaRPr lang="es-NI" sz="1200" dirty="0"/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A094EAE4-6A6A-62D7-CE91-C5FF4E7A0168}"/>
              </a:ext>
            </a:extLst>
          </p:cNvPr>
          <p:cNvCxnSpPr>
            <a:cxnSpLocks/>
          </p:cNvCxnSpPr>
          <p:nvPr/>
        </p:nvCxnSpPr>
        <p:spPr>
          <a:xfrm>
            <a:off x="1216152" y="1444752"/>
            <a:ext cx="16733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B1AC80F-4DE9-A9C2-91E1-5372D28948CA}"/>
              </a:ext>
            </a:extLst>
          </p:cNvPr>
          <p:cNvSpPr txBox="1"/>
          <p:nvPr/>
        </p:nvSpPr>
        <p:spPr>
          <a:xfrm>
            <a:off x="1177988" y="3282759"/>
            <a:ext cx="945489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Importancia del Análisis </a:t>
            </a:r>
          </a:p>
          <a:p>
            <a:endParaRPr lang="es-ES" dirty="0"/>
          </a:p>
          <a:p>
            <a:r>
              <a:rPr lang="es-ES" sz="1600" dirty="0"/>
              <a:t>Conocer el valor total y la distribución de la inversión antes de comprometer recursos reduce el riesgo de errores</a:t>
            </a:r>
          </a:p>
          <a:p>
            <a:r>
              <a:rPr lang="es-ES" sz="1600" dirty="0"/>
              <a:t>y pérdidas económicas en la negociación.</a:t>
            </a:r>
            <a:endParaRPr lang="es-NI" sz="1600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C61CEA20-A58E-30C9-ABAA-910467A71D83}"/>
              </a:ext>
            </a:extLst>
          </p:cNvPr>
          <p:cNvSpPr txBox="1"/>
          <p:nvPr/>
        </p:nvSpPr>
        <p:spPr>
          <a:xfrm>
            <a:off x="1177988" y="5047488"/>
            <a:ext cx="8910837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/>
              <a:t>Importancia de gestionar digitalmente la información </a:t>
            </a:r>
          </a:p>
          <a:p>
            <a:endParaRPr lang="es-ES" dirty="0"/>
          </a:p>
          <a:p>
            <a:r>
              <a:rPr lang="es-ES" sz="1600" dirty="0"/>
              <a:t>Integrar Word, Excel, PowerPoint y herramientas colaborativas permite a </a:t>
            </a:r>
            <a:r>
              <a:rPr lang="es-ES" sz="1600" dirty="0" err="1"/>
              <a:t>NicaTrade</a:t>
            </a:r>
            <a:r>
              <a:rPr lang="es-ES" sz="1600" dirty="0"/>
              <a:t> centralizar, analizar y</a:t>
            </a:r>
          </a:p>
          <a:p>
            <a:r>
              <a:rPr lang="es-ES" sz="1600" dirty="0"/>
              <a:t>comunicar su información de forma organizada y confiable. </a:t>
            </a:r>
            <a:endParaRPr lang="es-NI" sz="1600" dirty="0"/>
          </a:p>
        </p:txBody>
      </p:sp>
    </p:spTree>
    <p:extLst>
      <p:ext uri="{BB962C8B-B14F-4D97-AF65-F5344CB8AC3E}">
        <p14:creationId xmlns:p14="http://schemas.microsoft.com/office/powerpoint/2010/main" val="107098097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TM04033919[[fn=Circuito]]</Template>
  <TotalTime>51</TotalTime>
  <Words>247</Words>
  <Application>Microsoft Office PowerPoint</Application>
  <PresentationFormat>Panorámica</PresentationFormat>
  <Paragraphs>45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7" baseType="lpstr">
      <vt:lpstr>Arial</vt:lpstr>
      <vt:lpstr>Tw Cen MT</vt:lpstr>
      <vt:lpstr>Circuito</vt:lpstr>
      <vt:lpstr>Operación de importación </vt:lpstr>
      <vt:lpstr>Empresa y operación </vt:lpstr>
      <vt:lpstr>Resultado del análisis </vt:lpstr>
      <vt:lpstr>Conclusiones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Andy Jose</dc:creator>
  <cp:lastModifiedBy>Andy Jose</cp:lastModifiedBy>
  <cp:revision>1</cp:revision>
  <dcterms:created xsi:type="dcterms:W3CDTF">2026-09-17T21:05:33Z</dcterms:created>
  <dcterms:modified xsi:type="dcterms:W3CDTF">2026-09-17T23:28:52Z</dcterms:modified>
</cp:coreProperties>
</file>